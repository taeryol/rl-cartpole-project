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3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69BF-7461-EB32-4723-0BEC3F34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D1991-0C12-4626-20E6-791DB249A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55756-BF01-DE8A-03AD-319400D31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7DBA-F5BE-957B-21DD-8EE66B6037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50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761695"/>
            <a:ext cx="3657600" cy="3657600"/>
          </a:xfrm>
          <a:prstGeom prst="ellipse">
            <a:avLst/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6895" b="-6895"/>
          <a:stretch/>
        </p:blipFill>
        <p:spPr>
          <a:xfrm>
            <a:off x="9091879" y="749808"/>
            <a:ext cx="2018995" cy="183794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/>
          <a:stretch/>
        </p:blipFill>
        <p:spPr>
          <a:xfrm>
            <a:off x="779983" y="4056278"/>
            <a:ext cx="1723644" cy="17236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927348" y="5886907"/>
            <a:ext cx="4343400" cy="590702"/>
          </a:xfrm>
          <a:prstGeom prst="roundRect">
            <a:avLst>
              <a:gd name="adj" fmla="val 154799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456" b="-456"/>
          <a:stretch/>
        </p:blipFill>
        <p:spPr>
          <a:xfrm>
            <a:off x="4165092" y="6067044"/>
            <a:ext cx="219456" cy="2286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98848" y="6001207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4498848" y="6181344"/>
            <a:ext cx="36338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https://github.com/taeryol/RL-CartPole-Project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0" y="6838798"/>
            <a:ext cx="12191695" cy="1920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4928616" y="1438351"/>
            <a:ext cx="2343607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5639105" y="4334256"/>
            <a:ext cx="914400" cy="57607"/>
          </a:xfrm>
          <a:prstGeom prst="roundRect">
            <a:avLst>
              <a:gd name="adj" fmla="val 105820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5090465" y="1485900"/>
            <a:ext cx="2119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GRADUATE FINAL PROJECT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267712" y="1895551"/>
            <a:ext cx="8086954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강화학습을 이용한 CartPole-v1 문제 해결</a:t>
            </a:r>
            <a:endParaRPr lang="en-US" sz="4500" dirty="0"/>
          </a:p>
        </p:txBody>
      </p:sp>
      <p:sp>
        <p:nvSpPr>
          <p:cNvPr id="17" name="Text 12"/>
          <p:cNvSpPr txBox="1"/>
          <p:nvPr/>
        </p:nvSpPr>
        <p:spPr>
          <a:xfrm>
            <a:off x="3621938" y="3571646"/>
            <a:ext cx="51681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 (DQN) 구현 및 성능 분석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922672" y="4610101"/>
            <a:ext cx="2455164" cy="419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en-US" altLang="ko-KR" sz="24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A71025</a:t>
            </a:r>
            <a:r>
              <a:rPr lang="en-US" sz="24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ko-KR" altLang="en-US" sz="24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김태룡</a:t>
            </a:r>
            <a:r>
              <a:rPr lang="en-US" sz="24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81305" y="304495"/>
            <a:ext cx="57607" cy="381305"/>
          </a:xfrm>
          <a:prstGeom prst="roundRect">
            <a:avLst>
              <a:gd name="adj" fmla="val 529102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52298" y="286207"/>
            <a:ext cx="27386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 및 목표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0702" y="724205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CartPole-v1 환경의 문제 정의와 해결 기준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1305" y="1181405"/>
            <a:ext cx="3657600" cy="5057546"/>
          </a:xfrm>
          <a:prstGeom prst="roundRect">
            <a:avLst>
              <a:gd name="adj" fmla="val 7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991002" y="5333695"/>
            <a:ext cx="1800454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619049" y="14191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705002" y="1533449"/>
            <a:ext cx="286207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19049" y="201899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9049" y="2324405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DEFINITION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9049" y="2676449"/>
            <a:ext cx="286207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19049" y="2819095"/>
            <a:ext cx="31674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Gymnasium의 CartPole-v1 환경을 대상으로 합니다.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19049" y="3329330"/>
            <a:ext cx="323423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중력이 작용하는 환경에서 막대(Pole)가 쓰러지지 않도록 카트(Cart)를 좌우로 제어하여 균형을 유지하는 문제입니다.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67505" y="1181405"/>
            <a:ext cx="3657600" cy="5057546"/>
          </a:xfrm>
          <a:prstGeom prst="roundRect">
            <a:avLst>
              <a:gd name="adj" fmla="val 7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276649" y="1190549"/>
            <a:ext cx="3638398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877202" y="5333695"/>
            <a:ext cx="1800454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200" dirty="0"/>
          </a:p>
        </p:txBody>
      </p:sp>
      <p:sp>
        <p:nvSpPr>
          <p:cNvPr id="19" name="Shape 16"/>
          <p:cNvSpPr/>
          <p:nvPr/>
        </p:nvSpPr>
        <p:spPr>
          <a:xfrm>
            <a:off x="4505249" y="14191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4634179" y="1533449"/>
            <a:ext cx="200254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505249" y="2018995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505249" y="2324405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GOAL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05249" y="2676449"/>
            <a:ext cx="286207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153705" y="1181405"/>
            <a:ext cx="3657600" cy="5057546"/>
          </a:xfrm>
          <a:prstGeom prst="roundRect">
            <a:avLst>
              <a:gd name="adj" fmla="val 7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0763402" y="5333695"/>
            <a:ext cx="1800454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>
                    <a:alpha val="4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200" dirty="0"/>
          </a:p>
        </p:txBody>
      </p:sp>
      <p:sp>
        <p:nvSpPr>
          <p:cNvPr id="26" name="Shape 22"/>
          <p:cNvSpPr/>
          <p:nvPr/>
        </p:nvSpPr>
        <p:spPr>
          <a:xfrm>
            <a:off x="8391449" y="14191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05749" y="1533449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391449" y="201899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도전 과제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8391449" y="2324405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8391449" y="2676449"/>
            <a:ext cx="286207" cy="192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391449" y="2819095"/>
            <a:ext cx="2653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연속적 상태 공간 (Continuous State Space)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391449" y="3102559"/>
            <a:ext cx="3248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카트의 위치, 속도 등 연속적인 입력값을 정밀하게 처리해야 합니다.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8391449" y="3350362"/>
            <a:ext cx="31811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8391449" y="3445459"/>
            <a:ext cx="1081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DQN 신경망 학습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8391449" y="3728923"/>
            <a:ext cx="29535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신경망(Neural Network)을 근사 함수로 사용하여 최적 행동(Action)을 스스로 학습합니다.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2"/>
          <p:cNvSpPr txBox="1"/>
          <p:nvPr/>
        </p:nvSpPr>
        <p:spPr>
          <a:xfrm>
            <a:off x="381305" y="6543446"/>
            <a:ext cx="1781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Learning Project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1449202" y="6543446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2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505249" y="3152851"/>
            <a:ext cx="3181198" cy="657454"/>
          </a:xfrm>
          <a:prstGeom prst="roundRect">
            <a:avLst>
              <a:gd name="adj" fmla="val 1612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4629607" y="3467405"/>
            <a:ext cx="30339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100 에피소드 평균 보상 ≥ 195점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4505249" y="2809951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Solved 기준 달성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4629607" y="3267151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Condition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381305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323698"/>
            <a:ext cx="28008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및 MDP 정의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847649"/>
            <a:ext cx="36530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Markov Decision Process (MDP) 구성 요소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33195"/>
            <a:ext cx="3610051" cy="5143500"/>
          </a:xfrm>
          <a:prstGeom prst="roundRect">
            <a:avLst>
              <a:gd name="adj" fmla="val 1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1754" y="164774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2746" y="1819656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11780" y="1647749"/>
            <a:ext cx="942746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2896819" y="1686154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1754" y="2428646"/>
            <a:ext cx="14859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 Space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71754" y="2790749"/>
            <a:ext cx="2205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Observation Space (4-Dim Vector)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1754" y="3209544"/>
            <a:ext cx="2980944" cy="514807"/>
          </a:xfrm>
          <a:prstGeom prst="roundRect">
            <a:avLst>
              <a:gd name="adj" fmla="val 2631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1539850" y="3372307"/>
            <a:ext cx="15764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x, ẋ, θ, θ̇ ]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00354" y="3952951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Cart Position (x) 범위: -4.8 ~ 4.8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00354" y="4257446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Cart Velocity (ẋ) 범위: -Inf ~ Inf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00354" y="4562856"/>
            <a:ext cx="24341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Pole Angle (θ) 범위: -0.418 ~ 0.418 rad (±24°)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00354" y="5057546"/>
            <a:ext cx="2510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Pole Angular Velocity (θ̇) 범위: -Inf ~ Inf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92194" y="1333195"/>
            <a:ext cx="3610051" cy="5143500"/>
          </a:xfrm>
          <a:prstGeom prst="roundRect">
            <a:avLst>
              <a:gd name="adj" fmla="val 1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606747" y="164774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4749394" y="1819656"/>
            <a:ext cx="286207" cy="2286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858000" y="1647749"/>
            <a:ext cx="733349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943954" y="1686154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DISCRETE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606747" y="2428646"/>
            <a:ext cx="16294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Space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4606747" y="2790749"/>
            <a:ext cx="1672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Possible Agent Behaviors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394960" y="3209544"/>
            <a:ext cx="609905" cy="609905"/>
          </a:xfrm>
          <a:prstGeom prst="roundRect">
            <a:avLst>
              <a:gd name="adj" fmla="val 149925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5632704" y="3438144"/>
            <a:ext cx="133502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419649" y="3914546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0: Left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72200" y="3209544"/>
            <a:ext cx="609905" cy="609905"/>
          </a:xfrm>
          <a:prstGeom prst="roundRect">
            <a:avLst>
              <a:gd name="adj" fmla="val 149925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409944" y="3438144"/>
            <a:ext cx="133502" cy="15270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156655" y="3914546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4B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1: Right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606747" y="4390949"/>
            <a:ext cx="2980944" cy="981151"/>
          </a:xfrm>
          <a:prstGeom prst="roundRect">
            <a:avLst>
              <a:gd name="adj" fmla="val 72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4768596" y="4562856"/>
            <a:ext cx="271942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에이전트는 매 스텝마다 카트를 왼쪽 또는 오른쪽으로 미는 일정한 힘(Force)을 가할 수 있습니다.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128102" y="1333195"/>
            <a:ext cx="3610051" cy="5143500"/>
          </a:xfrm>
          <a:prstGeom prst="roundRect">
            <a:avLst>
              <a:gd name="adj" fmla="val 1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8442655" y="1647749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AB30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8599018" y="1819656"/>
            <a:ext cx="256946" cy="22860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0812780" y="1647749"/>
            <a:ext cx="60990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10898734" y="1686154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SCALAR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8442655" y="2428646"/>
            <a:ext cx="2086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Reward Function</a:t>
            </a:r>
            <a:endParaRPr lang="en-US" sz="1800" dirty="0"/>
          </a:p>
        </p:txBody>
      </p:sp>
      <p:sp>
        <p:nvSpPr>
          <p:cNvPr id="42" name="Text 35"/>
          <p:cNvSpPr txBox="1"/>
          <p:nvPr/>
        </p:nvSpPr>
        <p:spPr>
          <a:xfrm>
            <a:off x="8442655" y="2790749"/>
            <a:ext cx="1805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Objective: Maximize Return</a:t>
            </a:r>
            <a:endParaRPr lang="en-US" sz="10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-154" b="-154"/>
          <a:stretch/>
        </p:blipFill>
        <p:spPr>
          <a:xfrm>
            <a:off x="9450324" y="3019349"/>
            <a:ext cx="961949" cy="857707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652406" y="3105302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</a:t>
            </a:r>
            <a:endParaRPr lang="en-US" sz="3600" dirty="0"/>
          </a:p>
        </p:txBody>
      </p:sp>
      <p:sp>
        <p:nvSpPr>
          <p:cNvPr id="45" name="Shape 37"/>
          <p:cNvSpPr/>
          <p:nvPr/>
        </p:nvSpPr>
        <p:spPr>
          <a:xfrm>
            <a:off x="8442655" y="3991356"/>
            <a:ext cx="38405" cy="60990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8"/>
          <p:cNvSpPr txBox="1"/>
          <p:nvPr/>
        </p:nvSpPr>
        <p:spPr>
          <a:xfrm>
            <a:off x="8594446" y="4105656"/>
            <a:ext cx="27962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Time Step 마다 막대가 넘어지지 않고 버티면 보상 부여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8442655" y="4753051"/>
            <a:ext cx="38405" cy="6099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 txBox="1"/>
          <p:nvPr/>
        </p:nvSpPr>
        <p:spPr>
          <a:xfrm>
            <a:off x="8594446" y="4867351"/>
            <a:ext cx="27102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Reward = 500 (v1 기준 최대 에피소드 길이)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8442655" y="5505602"/>
            <a:ext cx="2419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*종료 조건: 막대 각도 &gt; 12° 또는 카트 위치 &gt; 2.4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0" y="639165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3"/>
          <p:cNvSpPr txBox="1"/>
          <p:nvPr/>
        </p:nvSpPr>
        <p:spPr>
          <a:xfrm>
            <a:off x="457200" y="6543446"/>
            <a:ext cx="2162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CartPole-v1 Environment Specification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11373307" y="6543446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86246" y="0"/>
            <a:ext cx="19202" cy="68580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3419856"/>
            <a:ext cx="12191695" cy="1920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381305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323698"/>
            <a:ext cx="21909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설계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847649"/>
            <a:ext cx="31199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 (DQN) 핵심 기법 4가지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43032" y="875995"/>
            <a:ext cx="1200607" cy="256946"/>
          </a:xfrm>
          <a:prstGeom prst="roundRect">
            <a:avLst>
              <a:gd name="adj" fmla="val 355872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0667390" y="923544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257300"/>
            <a:ext cx="5524805" cy="2533802"/>
          </a:xfrm>
          <a:prstGeom prst="roundRect">
            <a:avLst>
              <a:gd name="adj" fmla="val 21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94944" y="2066544"/>
            <a:ext cx="50484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94944" y="14950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672" y="1628546"/>
            <a:ext cx="237744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304849" y="1505102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04849" y="1772107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 APPROXIMATION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4944" y="2229307"/>
            <a:ext cx="5048402" cy="514807"/>
          </a:xfrm>
          <a:prstGeom prst="roundRect">
            <a:avLst>
              <a:gd name="adj" fmla="val 1315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2518258" y="2391156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Q(s, a; θ) ≈ Q*(s, a)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2857500"/>
            <a:ext cx="75895" cy="758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47649" y="2848356"/>
            <a:ext cx="488106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Q-Table의 한계를 극복하기 위해 신경망(Neural Network)을 근사 함수로 사용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3339389"/>
            <a:ext cx="75895" cy="758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7649" y="3329330"/>
            <a:ext cx="4423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연속적인 상태 공간(Continuous State Space)을 효과적으로 처리 가능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0605" y="1257300"/>
            <a:ext cx="5524805" cy="2533802"/>
          </a:xfrm>
          <a:prstGeom prst="roundRect">
            <a:avLst>
              <a:gd name="adj" fmla="val 21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448349" y="2066544"/>
            <a:ext cx="50484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448349" y="149504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4ADE80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590995" y="1628546"/>
            <a:ext cx="171907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58254" y="1505102"/>
            <a:ext cx="1867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Experience Replay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058254" y="1772107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EFFICIENCY &amp; STABILITY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646213" y="2229307"/>
            <a:ext cx="1114654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7732166" y="2276856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Save (s, a, r, s')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869680" y="2314346"/>
            <a:ext cx="105156" cy="11430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088222" y="2229307"/>
            <a:ext cx="1218895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74175" y="2312518"/>
            <a:ext cx="133502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346082" y="2276856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Sample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48349" y="2667305"/>
            <a:ext cx="75895" cy="758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601054" y="2657246"/>
            <a:ext cx="4014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간의 상관관계(Correlation)를 제거하여 학습 안정성 향상</a:t>
            </a:r>
            <a:endParaRPr lang="en-US" sz="11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48349" y="2946197"/>
            <a:ext cx="75895" cy="758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601054" y="2936138"/>
            <a:ext cx="3280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과거의 경험 데이터를 재사용하여 데이터 효율성 증대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457200" y="4019702"/>
            <a:ext cx="5524805" cy="2533802"/>
          </a:xfrm>
          <a:prstGeom prst="roundRect">
            <a:avLst>
              <a:gd name="adj" fmla="val 21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694944" y="4828946"/>
            <a:ext cx="50484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694944" y="42574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C084FC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446" y="4390949"/>
            <a:ext cx="190195" cy="19019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304849" y="4267505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Network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1304849" y="4533595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PREVENTING DIVERGENCE</a:t>
            </a:r>
            <a:endParaRPr lang="en-US" sz="9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1421892" y="5000854"/>
            <a:ext cx="171907" cy="15270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256386" y="5210251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Net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1272845" y="5362956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(Update)</a:t>
            </a:r>
            <a:endParaRPr lang="en-US" sz="9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1"/>
          <a:srcRect l="-6734" r="-6734"/>
          <a:stretch/>
        </p:blipFill>
        <p:spPr>
          <a:xfrm>
            <a:off x="2916936" y="4916729"/>
            <a:ext cx="562356" cy="4956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2880360" y="5248656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Periodically</a:t>
            </a:r>
            <a:endParaRPr lang="en-US" sz="9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4839919" y="5000854"/>
            <a:ext cx="133502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4629607" y="521025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Net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4725619" y="5362956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(Fixed)</a:t>
            </a:r>
            <a:endParaRPr lang="en-US" sz="9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94944" y="5639105"/>
            <a:ext cx="75895" cy="75895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47649" y="5629046"/>
            <a:ext cx="39383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목표값(Target)을 계산하는 네트워크를 분리하여 발산 방지</a:t>
            </a:r>
            <a:endParaRPr lang="en-US" sz="11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94944" y="5917997"/>
            <a:ext cx="75895" cy="7589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847649" y="5907938"/>
            <a:ext cx="41952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주기마다 Local Network의 가중치를 Target Network로 복사</a:t>
            </a:r>
            <a:endParaRPr lang="en-US" sz="1100" dirty="0"/>
          </a:p>
        </p:txBody>
      </p:sp>
      <p:sp>
        <p:nvSpPr>
          <p:cNvPr id="57" name="Shape 41"/>
          <p:cNvSpPr/>
          <p:nvPr/>
        </p:nvSpPr>
        <p:spPr>
          <a:xfrm>
            <a:off x="6210605" y="4019702"/>
            <a:ext cx="5524805" cy="2533802"/>
          </a:xfrm>
          <a:prstGeom prst="roundRect">
            <a:avLst>
              <a:gd name="adj" fmla="val 21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2"/>
          <p:cNvSpPr/>
          <p:nvPr/>
        </p:nvSpPr>
        <p:spPr>
          <a:xfrm>
            <a:off x="6448349" y="4828946"/>
            <a:ext cx="5048402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3"/>
          <p:cNvSpPr/>
          <p:nvPr/>
        </p:nvSpPr>
        <p:spPr>
          <a:xfrm>
            <a:off x="6448349" y="425744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BBF24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58077" y="4390949"/>
            <a:ext cx="237744" cy="190195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7058254" y="4267505"/>
            <a:ext cx="1581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Epsilon-Greedy</a:t>
            </a:r>
            <a:endParaRPr lang="en-US" sz="1500" dirty="0"/>
          </a:p>
        </p:txBody>
      </p:sp>
      <p:sp>
        <p:nvSpPr>
          <p:cNvPr id="62" name="Text 45"/>
          <p:cNvSpPr txBox="1"/>
          <p:nvPr/>
        </p:nvSpPr>
        <p:spPr>
          <a:xfrm>
            <a:off x="7058254" y="4533595"/>
            <a:ext cx="1895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EXPLORATION VS EXPLOITATION</a:t>
            </a:r>
            <a:endParaRPr lang="en-US" sz="900" dirty="0"/>
          </a:p>
        </p:txBody>
      </p:sp>
      <p:sp>
        <p:nvSpPr>
          <p:cNvPr id="63" name="Shape 46"/>
          <p:cNvSpPr/>
          <p:nvPr/>
        </p:nvSpPr>
        <p:spPr>
          <a:xfrm>
            <a:off x="6448349" y="4990795"/>
            <a:ext cx="5048402" cy="457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47"/>
          <p:cNvSpPr/>
          <p:nvPr/>
        </p:nvSpPr>
        <p:spPr>
          <a:xfrm>
            <a:off x="6458407" y="5000854"/>
            <a:ext cx="5029200" cy="437998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/>
          <p:cNvSpPr txBox="1"/>
          <p:nvPr/>
        </p:nvSpPr>
        <p:spPr>
          <a:xfrm>
            <a:off x="6572707" y="5152644"/>
            <a:ext cx="1047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ε=1.0 (Random)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10343693" y="5152644"/>
            <a:ext cx="11247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ε→0.01 (Greedy)</a:t>
            </a:r>
            <a:endParaRPr lang="en-US" sz="900" dirty="0"/>
          </a:p>
        </p:txBody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448349" y="5562295"/>
            <a:ext cx="75895" cy="75895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6601054" y="5553151"/>
            <a:ext cx="3319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초기에는 탐험(Exploration) 위주로 다양한 경험 축적</a:t>
            </a:r>
            <a:endParaRPr lang="en-US" sz="1100" dirty="0"/>
          </a:p>
        </p:txBody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448349" y="5841187"/>
            <a:ext cx="75895" cy="75895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6601054" y="5832043"/>
            <a:ext cx="41952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학습이 진행될수록 학습된 지식을 활용(Exploitation)하는 비율 증가</a:t>
            </a:r>
            <a:endParaRPr lang="en-US" sz="1100" dirty="0"/>
          </a:p>
        </p:txBody>
      </p:sp>
      <p:sp>
        <p:nvSpPr>
          <p:cNvPr id="71" name="Shape 52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3"/>
          <p:cNvSpPr txBox="1"/>
          <p:nvPr/>
        </p:nvSpPr>
        <p:spPr>
          <a:xfrm>
            <a:off x="457200" y="6581851"/>
            <a:ext cx="1657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Q-Network Architecture</a:t>
            </a:r>
            <a:endParaRPr lang="en-US" sz="900" dirty="0"/>
          </a:p>
        </p:txBody>
      </p:sp>
      <p:sp>
        <p:nvSpPr>
          <p:cNvPr id="73" name="Text 54"/>
          <p:cNvSpPr txBox="1"/>
          <p:nvPr/>
        </p:nvSpPr>
        <p:spPr>
          <a:xfrm>
            <a:off x="11373307" y="6581851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323698"/>
            <a:ext cx="75895" cy="304495"/>
          </a:xfrm>
          <a:prstGeom prst="roundRect">
            <a:avLst>
              <a:gd name="adj" fmla="val 30120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10231222" y="752551"/>
            <a:ext cx="114300" cy="1335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799" y="267005"/>
            <a:ext cx="389260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환경 및 하이퍼파라미터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85800"/>
            <a:ext cx="3762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Experimental Setup &amp; Hyperparameter Configuration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21417" y="724205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Configuration Details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188720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482242"/>
            <a:ext cx="3610051" cy="1733702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9049" y="1644091"/>
            <a:ext cx="3286354" cy="647395"/>
          </a:xfrm>
          <a:prstGeom prst="roundRect">
            <a:avLst>
              <a:gd name="adj" fmla="val 1661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0128" r="-30128"/>
          <a:stretch/>
        </p:blipFill>
        <p:spPr>
          <a:xfrm>
            <a:off x="743407" y="1872691"/>
            <a:ext cx="228600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9049" y="2405786"/>
            <a:ext cx="3286354" cy="647395"/>
          </a:xfrm>
          <a:prstGeom prst="roundRect">
            <a:avLst>
              <a:gd name="adj" fmla="val 1661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9102" r="-9102"/>
          <a:stretch/>
        </p:blipFill>
        <p:spPr>
          <a:xfrm>
            <a:off x="743407" y="2644445"/>
            <a:ext cx="228600" cy="171907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457200" y="3413455"/>
            <a:ext cx="219456" cy="171907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57200" y="3706978"/>
            <a:ext cx="3610051" cy="2495398"/>
          </a:xfrm>
          <a:prstGeom prst="roundRect">
            <a:avLst>
              <a:gd name="adj" fmla="val 16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619049" y="3868826"/>
            <a:ext cx="3286354" cy="647395"/>
          </a:xfrm>
          <a:prstGeom prst="roundRect">
            <a:avLst>
              <a:gd name="adj" fmla="val 1661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18681" r="-18681"/>
          <a:stretch/>
        </p:blipFill>
        <p:spPr>
          <a:xfrm>
            <a:off x="743407" y="4097426"/>
            <a:ext cx="228600" cy="19019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19049" y="4631436"/>
            <a:ext cx="3286354" cy="647395"/>
          </a:xfrm>
          <a:prstGeom prst="roundRect">
            <a:avLst>
              <a:gd name="adj" fmla="val 1661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rcRect l="-18681" r="-18681"/>
          <a:stretch/>
        </p:blipFill>
        <p:spPr>
          <a:xfrm>
            <a:off x="743407" y="4860036"/>
            <a:ext cx="228600" cy="19019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19049" y="5393131"/>
            <a:ext cx="3286354" cy="647395"/>
          </a:xfrm>
          <a:prstGeom prst="roundRect">
            <a:avLst>
              <a:gd name="adj" fmla="val 1661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 l="-3192" r="-3192"/>
          <a:stretch/>
        </p:blipFill>
        <p:spPr>
          <a:xfrm>
            <a:off x="743407" y="5631790"/>
            <a:ext cx="228600" cy="171907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330598" y="1188720"/>
            <a:ext cx="171907" cy="1719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4292194" y="1482242"/>
            <a:ext cx="7448702" cy="4724705"/>
          </a:xfrm>
          <a:prstGeom prst="roundRect">
            <a:avLst>
              <a:gd name="adj" fmla="val 46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4"/>
          <p:cNvSpPr/>
          <p:nvPr/>
        </p:nvSpPr>
        <p:spPr>
          <a:xfrm>
            <a:off x="4302252" y="1796796"/>
            <a:ext cx="7429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5"/>
          <p:cNvSpPr/>
          <p:nvPr/>
        </p:nvSpPr>
        <p:spPr>
          <a:xfrm>
            <a:off x="4302252" y="3033979"/>
            <a:ext cx="742950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4668926" y="2723083"/>
            <a:ext cx="105156" cy="1143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4911242" y="2670962"/>
            <a:ext cx="13094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Rate (α)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4302252" y="3546043"/>
            <a:ext cx="742950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4678070" y="3235147"/>
            <a:ext cx="85954" cy="11430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4911242" y="3183026"/>
            <a:ext cx="1423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Discount Factor (γ)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4302252" y="4059022"/>
            <a:ext cx="742950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4"/>
          <a:srcRect l="-1911" r="-1911"/>
          <a:stretch/>
        </p:blipFill>
        <p:spPr>
          <a:xfrm>
            <a:off x="4654296" y="3747211"/>
            <a:ext cx="133502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4911242" y="3696005"/>
            <a:ext cx="8330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4302252" y="4571086"/>
            <a:ext cx="742950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664354" y="4259275"/>
            <a:ext cx="114300" cy="114300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4911242" y="4208069"/>
            <a:ext cx="1366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Replay Buffer Size</a:t>
            </a:r>
            <a:endParaRPr lang="en-US" sz="11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6"/>
          <a:srcRect l="-1911" r="-1911"/>
          <a:stretch/>
        </p:blipFill>
        <p:spPr>
          <a:xfrm>
            <a:off x="4654296" y="4771339"/>
            <a:ext cx="133502" cy="114300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4911242" y="4720133"/>
            <a:ext cx="10808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Epsilon Decay</a:t>
            </a:r>
            <a:endParaRPr lang="en-US" sz="1100" dirty="0"/>
          </a:p>
        </p:txBody>
      </p:sp>
      <p:sp>
        <p:nvSpPr>
          <p:cNvPr id="40" name="Shape 24"/>
          <p:cNvSpPr/>
          <p:nvPr/>
        </p:nvSpPr>
        <p:spPr>
          <a:xfrm>
            <a:off x="4302252" y="5802782"/>
            <a:ext cx="74295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5"/>
          <p:cNvSpPr txBox="1"/>
          <p:nvPr/>
        </p:nvSpPr>
        <p:spPr>
          <a:xfrm>
            <a:off x="705002" y="1143000"/>
            <a:ext cx="136062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Hardware Env</a:t>
            </a:r>
            <a:endParaRPr lang="en-US" sz="1300" dirty="0"/>
          </a:p>
        </p:txBody>
      </p:sp>
      <p:sp>
        <p:nvSpPr>
          <p:cNvPr id="42" name="Text 26"/>
          <p:cNvSpPr txBox="1"/>
          <p:nvPr/>
        </p:nvSpPr>
        <p:spPr>
          <a:xfrm>
            <a:off x="1086307" y="173004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MACHINE</a:t>
            </a:r>
            <a:endParaRPr lang="en-US" sz="1200" dirty="0"/>
          </a:p>
        </p:txBody>
      </p:sp>
      <p:sp>
        <p:nvSpPr>
          <p:cNvPr id="43" name="Text 27"/>
          <p:cNvSpPr txBox="1"/>
          <p:nvPr/>
        </p:nvSpPr>
        <p:spPr>
          <a:xfrm>
            <a:off x="1086307" y="1977847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macOS (Apple Silicon)</a:t>
            </a:r>
            <a:endParaRPr lang="en-US" sz="1200" dirty="0"/>
          </a:p>
        </p:txBody>
      </p:sp>
      <p:sp>
        <p:nvSpPr>
          <p:cNvPr id="44" name="Text 28"/>
          <p:cNvSpPr txBox="1"/>
          <p:nvPr/>
        </p:nvSpPr>
        <p:spPr>
          <a:xfrm>
            <a:off x="1086307" y="2491740"/>
            <a:ext cx="752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</a:t>
            </a:r>
            <a:endParaRPr lang="en-US" sz="1200" dirty="0"/>
          </a:p>
        </p:txBody>
      </p:sp>
      <p:sp>
        <p:nvSpPr>
          <p:cNvPr id="45" name="Text 29"/>
          <p:cNvSpPr txBox="1"/>
          <p:nvPr/>
        </p:nvSpPr>
        <p:spPr>
          <a:xfrm>
            <a:off x="1086307" y="2739542"/>
            <a:ext cx="1534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Environment</a:t>
            </a:r>
            <a:endParaRPr lang="en-US" sz="1200" dirty="0"/>
          </a:p>
        </p:txBody>
      </p:sp>
      <p:sp>
        <p:nvSpPr>
          <p:cNvPr id="46" name="Text 30"/>
          <p:cNvSpPr txBox="1"/>
          <p:nvPr/>
        </p:nvSpPr>
        <p:spPr>
          <a:xfrm>
            <a:off x="752551" y="3367735"/>
            <a:ext cx="14465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47" name="Text 31"/>
          <p:cNvSpPr txBox="1"/>
          <p:nvPr/>
        </p:nvSpPr>
        <p:spPr>
          <a:xfrm>
            <a:off x="1086307" y="3954780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LANGUAGE</a:t>
            </a:r>
            <a:endParaRPr lang="en-US" sz="1200" dirty="0"/>
          </a:p>
        </p:txBody>
      </p:sp>
      <p:sp>
        <p:nvSpPr>
          <p:cNvPr id="48" name="Text 32"/>
          <p:cNvSpPr txBox="1"/>
          <p:nvPr/>
        </p:nvSpPr>
        <p:spPr>
          <a:xfrm>
            <a:off x="1086307" y="4202582"/>
            <a:ext cx="933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49" name="Text 33"/>
          <p:cNvSpPr txBox="1"/>
          <p:nvPr/>
        </p:nvSpPr>
        <p:spPr>
          <a:xfrm>
            <a:off x="1086307" y="471739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1086307" y="496427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</a:t>
            </a:r>
            <a:endParaRPr lang="en-US" sz="1200" dirty="0"/>
          </a:p>
        </p:txBody>
      </p:sp>
      <p:sp>
        <p:nvSpPr>
          <p:cNvPr id="51" name="Text 35"/>
          <p:cNvSpPr txBox="1"/>
          <p:nvPr/>
        </p:nvSpPr>
        <p:spPr>
          <a:xfrm>
            <a:off x="1086307" y="5479085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52" name="Text 36"/>
          <p:cNvSpPr txBox="1"/>
          <p:nvPr/>
        </p:nvSpPr>
        <p:spPr>
          <a:xfrm>
            <a:off x="1086307" y="5726887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OpenAI Gymnasium</a:t>
            </a:r>
            <a:endParaRPr lang="en-US" sz="1200" dirty="0"/>
          </a:p>
        </p:txBody>
      </p:sp>
      <p:sp>
        <p:nvSpPr>
          <p:cNvPr id="53" name="Text 37"/>
          <p:cNvSpPr txBox="1"/>
          <p:nvPr/>
        </p:nvSpPr>
        <p:spPr>
          <a:xfrm>
            <a:off x="4578401" y="1143000"/>
            <a:ext cx="16459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Hyperparameters</a:t>
            </a:r>
            <a:endParaRPr lang="en-US" sz="1300" dirty="0"/>
          </a:p>
        </p:txBody>
      </p:sp>
      <p:sp>
        <p:nvSpPr>
          <p:cNvPr id="54" name="Text 38"/>
          <p:cNvSpPr txBox="1"/>
          <p:nvPr/>
        </p:nvSpPr>
        <p:spPr>
          <a:xfrm>
            <a:off x="4606747" y="1558138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NAME</a:t>
            </a:r>
            <a:endParaRPr lang="en-US" sz="900" dirty="0"/>
          </a:p>
        </p:txBody>
      </p:sp>
      <p:sp>
        <p:nvSpPr>
          <p:cNvPr id="55" name="Text 39"/>
          <p:cNvSpPr txBox="1"/>
          <p:nvPr/>
        </p:nvSpPr>
        <p:spPr>
          <a:xfrm>
            <a:off x="10466222" y="1558138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SETTING VALUE</a:t>
            </a:r>
            <a:endParaRPr lang="en-US" sz="900" dirty="0"/>
          </a:p>
        </p:txBody>
      </p:sp>
      <p:sp>
        <p:nvSpPr>
          <p:cNvPr id="56" name="Text 40"/>
          <p:cNvSpPr txBox="1"/>
          <p:nvPr/>
        </p:nvSpPr>
        <p:spPr>
          <a:xfrm>
            <a:off x="10871302" y="2674620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0.0005</a:t>
            </a:r>
            <a:endParaRPr lang="en-US" sz="1200" dirty="0"/>
          </a:p>
        </p:txBody>
      </p:sp>
      <p:sp>
        <p:nvSpPr>
          <p:cNvPr id="57" name="Text 41"/>
          <p:cNvSpPr txBox="1"/>
          <p:nvPr/>
        </p:nvSpPr>
        <p:spPr>
          <a:xfrm>
            <a:off x="11055096" y="3187598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endParaRPr lang="en-US" sz="1200" dirty="0"/>
          </a:p>
        </p:txBody>
      </p:sp>
      <p:sp>
        <p:nvSpPr>
          <p:cNvPr id="58" name="Text 42"/>
          <p:cNvSpPr txBox="1"/>
          <p:nvPr/>
        </p:nvSpPr>
        <p:spPr>
          <a:xfrm>
            <a:off x="11237976" y="3699662"/>
            <a:ext cx="305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200" dirty="0"/>
          </a:p>
        </p:txBody>
      </p:sp>
      <p:sp>
        <p:nvSpPr>
          <p:cNvPr id="59" name="Text 43"/>
          <p:cNvSpPr txBox="1"/>
          <p:nvPr/>
        </p:nvSpPr>
        <p:spPr>
          <a:xfrm>
            <a:off x="10871302" y="4211726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1200" dirty="0"/>
          </a:p>
        </p:txBody>
      </p:sp>
      <p:sp>
        <p:nvSpPr>
          <p:cNvPr id="60" name="Text 44"/>
          <p:cNvSpPr txBox="1"/>
          <p:nvPr/>
        </p:nvSpPr>
        <p:spPr>
          <a:xfrm>
            <a:off x="10292486" y="4723790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endParaRPr lang="en-US" sz="1200" dirty="0"/>
          </a:p>
        </p:txBody>
      </p:sp>
      <p:sp>
        <p:nvSpPr>
          <p:cNvPr id="61" name="Text 45"/>
          <p:cNvSpPr txBox="1"/>
          <p:nvPr/>
        </p:nvSpPr>
        <p:spPr>
          <a:xfrm>
            <a:off x="10734142" y="4762195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 0.01)</a:t>
            </a:r>
            <a:endParaRPr lang="en-US" sz="900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606747" y="5950001"/>
            <a:ext cx="114300" cy="114300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4796942" y="5917082"/>
            <a:ext cx="2638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 Optimizer was used for network updates.</a:t>
            </a:r>
            <a:endParaRPr lang="en-US" sz="900" dirty="0"/>
          </a:p>
        </p:txBody>
      </p:sp>
      <p:sp>
        <p:nvSpPr>
          <p:cNvPr id="64" name="Shape 47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/>
          <p:cNvSpPr txBox="1"/>
          <p:nvPr/>
        </p:nvSpPr>
        <p:spPr>
          <a:xfrm>
            <a:off x="457200" y="6581851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Experimental Settings</a:t>
            </a:r>
            <a:endParaRPr lang="en-US" sz="900" dirty="0"/>
          </a:p>
        </p:txBody>
      </p:sp>
      <p:sp>
        <p:nvSpPr>
          <p:cNvPr id="66" name="Text 49"/>
          <p:cNvSpPr txBox="1"/>
          <p:nvPr/>
        </p:nvSpPr>
        <p:spPr>
          <a:xfrm>
            <a:off x="11373307" y="6581851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0"/>
            <a:ext cx="1429207" cy="1429207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5429707"/>
            <a:ext cx="1429207" cy="1429207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381305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172700" y="780898"/>
            <a:ext cx="1561795" cy="323698"/>
          </a:xfrm>
          <a:prstGeom prst="roundRect">
            <a:avLst>
              <a:gd name="adj" fmla="val 28248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323698"/>
            <a:ext cx="50776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Experimental Results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847649"/>
            <a:ext cx="2833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성능 분석 및 목표 달성 여부 확인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487254" y="857707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REACHED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334549" y="9052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>
              <a:alpha val="91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460943" y="1257300"/>
            <a:ext cx="3280868" cy="1666951"/>
          </a:xfrm>
          <a:prstGeom prst="roundRect">
            <a:avLst>
              <a:gd name="adj" fmla="val 5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469" r="-469"/>
          <a:stretch/>
        </p:blipFill>
        <p:spPr>
          <a:xfrm>
            <a:off x="11067898" y="1452982"/>
            <a:ext cx="504749" cy="5715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460943" y="3073298"/>
            <a:ext cx="3280868" cy="1666951"/>
          </a:xfrm>
          <a:prstGeom prst="roundRect">
            <a:avLst>
              <a:gd name="adj" fmla="val 5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11001146" y="3268980"/>
            <a:ext cx="571500" cy="5715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460943" y="4889297"/>
            <a:ext cx="3280868" cy="1666951"/>
          </a:xfrm>
          <a:prstGeom prst="roundRect">
            <a:avLst>
              <a:gd name="adj" fmla="val 5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l="-347" r="-347"/>
          <a:stretch/>
        </p:blipFill>
        <p:spPr>
          <a:xfrm>
            <a:off x="10925251" y="5084978"/>
            <a:ext cx="647395" cy="5715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8708746" y="139720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2C5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813902" y="1492301"/>
            <a:ext cx="171907" cy="190195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708746" y="2617927"/>
            <a:ext cx="114300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37346" y="2587752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종료 (Early Stopping)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8708746" y="1854403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SOLVED IN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8623402" y="2063801"/>
            <a:ext cx="29242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363 Episodes</a:t>
            </a:r>
            <a:endParaRPr lang="en-US" sz="3000" dirty="0"/>
          </a:p>
        </p:txBody>
      </p:sp>
      <p:sp>
        <p:nvSpPr>
          <p:cNvPr id="31" name="Shape 22"/>
          <p:cNvSpPr/>
          <p:nvPr/>
        </p:nvSpPr>
        <p:spPr>
          <a:xfrm>
            <a:off x="8708746" y="321320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03843" y="3308299"/>
            <a:ext cx="190195" cy="19019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708746" y="4403750"/>
            <a:ext cx="20116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Target Score (195.0) 초과 달성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8708746" y="3670402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RECENT 100 EP AVG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8708746" y="3879799"/>
            <a:ext cx="16102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195.34</a:t>
            </a:r>
            <a:endParaRPr lang="en-US" sz="3000" dirty="0"/>
          </a:p>
        </p:txBody>
      </p:sp>
      <p:sp>
        <p:nvSpPr>
          <p:cNvPr id="36" name="Shape 26"/>
          <p:cNvSpPr/>
          <p:nvPr/>
        </p:nvSpPr>
        <p:spPr>
          <a:xfrm>
            <a:off x="8708746" y="50292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AB30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790127" y="5124298"/>
            <a:ext cx="219456" cy="190195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708746" y="6249924"/>
            <a:ext cx="133502" cy="133502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956548" y="6219749"/>
            <a:ext cx="15544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Step Limit Reached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708746" y="5486400"/>
            <a:ext cx="1748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EPISODE REWARD</a:t>
            </a:r>
            <a:endParaRPr lang="en-US" sz="1000" dirty="0"/>
          </a:p>
        </p:txBody>
      </p:sp>
      <p:sp>
        <p:nvSpPr>
          <p:cNvPr id="41" name="Text 29"/>
          <p:cNvSpPr txBox="1"/>
          <p:nvPr/>
        </p:nvSpPr>
        <p:spPr>
          <a:xfrm>
            <a:off x="8708746" y="5695798"/>
            <a:ext cx="18288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Max</a:t>
            </a:r>
            <a:endParaRPr lang="en-US" sz="3000" dirty="0"/>
          </a:p>
        </p:txBody>
      </p:sp>
      <p:sp>
        <p:nvSpPr>
          <p:cNvPr id="42" name="Shape 30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457200" y="6581851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Analysis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1373307" y="6581851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6</a:t>
            </a:r>
            <a:endParaRPr lang="en-US" sz="900" dirty="0"/>
          </a:p>
        </p:txBody>
      </p:sp>
      <p:pic>
        <p:nvPicPr>
          <p:cNvPr id="46" name="그림 45" descr="텍스트, 그래프, 라인, 도표이(가) 표시된 사진&#10;&#10;자동 생성된 설명">
            <a:extLst>
              <a:ext uri="{FF2B5EF4-FFF2-40B4-BE49-F238E27FC236}">
                <a16:creationId xmlns:a16="http://schemas.microsoft.com/office/drawing/2014/main" id="{3AF1D459-4F36-A264-B22F-9E490C872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143" y="1750465"/>
            <a:ext cx="7875418" cy="3896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CC861-A3DA-67DE-5908-EF9BFB0F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85988C-43C4-97B2-CD95-BF1966013AA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66A68F-7FD2-5EA9-DAD6-9DAEA747681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D19D8E-F3BF-731E-1D84-87BCB81CE109}"/>
              </a:ext>
            </a:extLst>
          </p:cNvPr>
          <p:cNvSpPr/>
          <p:nvPr/>
        </p:nvSpPr>
        <p:spPr>
          <a:xfrm>
            <a:off x="10763402" y="0"/>
            <a:ext cx="1429207" cy="1429207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E5DF8E-921B-DC9A-E83A-97C41F86A506}"/>
              </a:ext>
            </a:extLst>
          </p:cNvPr>
          <p:cNvSpPr/>
          <p:nvPr/>
        </p:nvSpPr>
        <p:spPr>
          <a:xfrm>
            <a:off x="0" y="5429707"/>
            <a:ext cx="1429207" cy="1429207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A2DB66D-37E0-8E9D-7F3E-8E7146C87BC3}"/>
              </a:ext>
            </a:extLst>
          </p:cNvPr>
          <p:cNvSpPr/>
          <p:nvPr/>
        </p:nvSpPr>
        <p:spPr>
          <a:xfrm>
            <a:off x="457200" y="381305"/>
            <a:ext cx="75895" cy="381305"/>
          </a:xfrm>
          <a:prstGeom prst="roundRect">
            <a:avLst>
              <a:gd name="adj" fmla="val 301206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D42CF6-1690-2B2A-CD96-84F40EDEAAA1}"/>
              </a:ext>
            </a:extLst>
          </p:cNvPr>
          <p:cNvSpPr/>
          <p:nvPr/>
        </p:nvSpPr>
        <p:spPr>
          <a:xfrm>
            <a:off x="10172700" y="780898"/>
            <a:ext cx="1561795" cy="323698"/>
          </a:xfrm>
          <a:prstGeom prst="roundRect">
            <a:avLst>
              <a:gd name="adj" fmla="val 28248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823523-5E98-3B28-F8CD-21E1E5CF49F3}"/>
              </a:ext>
            </a:extLst>
          </p:cNvPr>
          <p:cNvSpPr txBox="1"/>
          <p:nvPr/>
        </p:nvSpPr>
        <p:spPr>
          <a:xfrm>
            <a:off x="685800" y="323698"/>
            <a:ext cx="50776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Experimental Results</a:t>
            </a:r>
            <a:endParaRPr lang="en-US" sz="2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0623FE-837F-37E5-1F22-818F13612CE2}"/>
              </a:ext>
            </a:extLst>
          </p:cNvPr>
          <p:cNvSpPr txBox="1"/>
          <p:nvPr/>
        </p:nvSpPr>
        <p:spPr>
          <a:xfrm>
            <a:off x="685800" y="847649"/>
            <a:ext cx="2833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성능 분석 및 목표 달성 여부 확인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78D7924-F77C-80A9-8267-E91770DFFD52}"/>
              </a:ext>
            </a:extLst>
          </p:cNvPr>
          <p:cNvSpPr txBox="1"/>
          <p:nvPr/>
        </p:nvSpPr>
        <p:spPr>
          <a:xfrm>
            <a:off x="10487254" y="857707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REACHED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FF29D18-1C8D-3401-6842-79D45A28F04D}"/>
              </a:ext>
            </a:extLst>
          </p:cNvPr>
          <p:cNvSpPr/>
          <p:nvPr/>
        </p:nvSpPr>
        <p:spPr>
          <a:xfrm>
            <a:off x="10334549" y="90525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>
              <a:alpha val="91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328A9D51-6AB8-EF73-1C49-D9F20BFDFAF5}"/>
              </a:ext>
            </a:extLst>
          </p:cNvPr>
          <p:cNvSpPr/>
          <p:nvPr/>
        </p:nvSpPr>
        <p:spPr>
          <a:xfrm>
            <a:off x="8460943" y="1257300"/>
            <a:ext cx="3280868" cy="1666951"/>
          </a:xfrm>
          <a:prstGeom prst="roundRect">
            <a:avLst>
              <a:gd name="adj" fmla="val 5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491D59AB-FAFD-B227-69AB-77BE49D7D2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-469" r="-469"/>
          <a:stretch/>
        </p:blipFill>
        <p:spPr>
          <a:xfrm>
            <a:off x="11067898" y="1452982"/>
            <a:ext cx="504749" cy="571500"/>
          </a:xfrm>
          <a:prstGeom prst="rect">
            <a:avLst/>
          </a:prstGeom>
        </p:spPr>
      </p:pic>
      <p:sp>
        <p:nvSpPr>
          <p:cNvPr id="21" name="Shape 16">
            <a:extLst>
              <a:ext uri="{FF2B5EF4-FFF2-40B4-BE49-F238E27FC236}">
                <a16:creationId xmlns:a16="http://schemas.microsoft.com/office/drawing/2014/main" id="{3A612D92-F57A-C197-9ED3-C2C28D35FBD8}"/>
              </a:ext>
            </a:extLst>
          </p:cNvPr>
          <p:cNvSpPr/>
          <p:nvPr/>
        </p:nvSpPr>
        <p:spPr>
          <a:xfrm>
            <a:off x="8460943" y="3073298"/>
            <a:ext cx="3280868" cy="1666951"/>
          </a:xfrm>
          <a:prstGeom prst="roundRect">
            <a:avLst>
              <a:gd name="adj" fmla="val 5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C2239781-8981-5955-7395-D401FCFE5A4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/>
        </p:blipFill>
        <p:spPr>
          <a:xfrm>
            <a:off x="11001146" y="3268980"/>
            <a:ext cx="571500" cy="571500"/>
          </a:xfrm>
          <a:prstGeom prst="rect">
            <a:avLst/>
          </a:prstGeom>
        </p:spPr>
      </p:pic>
      <p:sp>
        <p:nvSpPr>
          <p:cNvPr id="23" name="Shape 17">
            <a:extLst>
              <a:ext uri="{FF2B5EF4-FFF2-40B4-BE49-F238E27FC236}">
                <a16:creationId xmlns:a16="http://schemas.microsoft.com/office/drawing/2014/main" id="{3F2A2D06-85CF-22F9-47CF-807B34543958}"/>
              </a:ext>
            </a:extLst>
          </p:cNvPr>
          <p:cNvSpPr/>
          <p:nvPr/>
        </p:nvSpPr>
        <p:spPr>
          <a:xfrm>
            <a:off x="8460943" y="4889297"/>
            <a:ext cx="3280868" cy="1666951"/>
          </a:xfrm>
          <a:prstGeom prst="roundRect">
            <a:avLst>
              <a:gd name="adj" fmla="val 50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7ADA1494-50B6-EDDC-9D70-A9DFE207FC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rcRect l="-347" r="-347"/>
          <a:stretch/>
        </p:blipFill>
        <p:spPr>
          <a:xfrm>
            <a:off x="10925251" y="5084978"/>
            <a:ext cx="647395" cy="571500"/>
          </a:xfrm>
          <a:prstGeom prst="rect">
            <a:avLst/>
          </a:prstGeom>
        </p:spPr>
      </p:pic>
      <p:sp>
        <p:nvSpPr>
          <p:cNvPr id="25" name="Shape 18">
            <a:extLst>
              <a:ext uri="{FF2B5EF4-FFF2-40B4-BE49-F238E27FC236}">
                <a16:creationId xmlns:a16="http://schemas.microsoft.com/office/drawing/2014/main" id="{69FE53A0-C862-2DD3-4CB7-D39686052232}"/>
              </a:ext>
            </a:extLst>
          </p:cNvPr>
          <p:cNvSpPr/>
          <p:nvPr/>
        </p:nvSpPr>
        <p:spPr>
          <a:xfrm>
            <a:off x="8708746" y="139720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2C55E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88CE52BD-A5C3-E45C-29E9-0E48A0DCC8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8813902" y="1492301"/>
            <a:ext cx="171907" cy="190195"/>
          </a:xfrm>
          <a:prstGeom prst="rect">
            <a:avLst/>
          </a:prstGeom>
        </p:spPr>
      </p:pic>
      <p:pic>
        <p:nvPicPr>
          <p:cNvPr id="27" name="Image 6" descr="preencoded.png">
            <a:extLst>
              <a:ext uri="{FF2B5EF4-FFF2-40B4-BE49-F238E27FC236}">
                <a16:creationId xmlns:a16="http://schemas.microsoft.com/office/drawing/2014/main" id="{03073E8D-E081-14F3-32F4-DA424D7255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708746" y="2617927"/>
            <a:ext cx="114300" cy="133502"/>
          </a:xfrm>
          <a:prstGeom prst="rect">
            <a:avLst/>
          </a:prstGeom>
        </p:spPr>
      </p:pic>
      <p:sp>
        <p:nvSpPr>
          <p:cNvPr id="28" name="Text 19">
            <a:extLst>
              <a:ext uri="{FF2B5EF4-FFF2-40B4-BE49-F238E27FC236}">
                <a16:creationId xmlns:a16="http://schemas.microsoft.com/office/drawing/2014/main" id="{423C5243-D3C5-A686-0696-936BD42E21CC}"/>
              </a:ext>
            </a:extLst>
          </p:cNvPr>
          <p:cNvSpPr txBox="1"/>
          <p:nvPr/>
        </p:nvSpPr>
        <p:spPr>
          <a:xfrm>
            <a:off x="8937346" y="2587752"/>
            <a:ext cx="16212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종료 (Early Stopping)</a:t>
            </a:r>
            <a:endParaRPr lang="en-US" sz="10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82299742-44B3-1B02-821F-87E640450248}"/>
              </a:ext>
            </a:extLst>
          </p:cNvPr>
          <p:cNvSpPr txBox="1"/>
          <p:nvPr/>
        </p:nvSpPr>
        <p:spPr>
          <a:xfrm>
            <a:off x="8708746" y="1854403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SOLVED IN</a:t>
            </a:r>
            <a:endParaRPr lang="en-US" sz="10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3C22A670-715C-2312-141D-94DC30BF6CAC}"/>
              </a:ext>
            </a:extLst>
          </p:cNvPr>
          <p:cNvSpPr txBox="1"/>
          <p:nvPr/>
        </p:nvSpPr>
        <p:spPr>
          <a:xfrm>
            <a:off x="8623402" y="2063801"/>
            <a:ext cx="29242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363 Episodes</a:t>
            </a:r>
            <a:endParaRPr lang="en-US" sz="30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2B217F1D-6B9A-6CEE-A804-C7B9F3F39223}"/>
              </a:ext>
            </a:extLst>
          </p:cNvPr>
          <p:cNvSpPr/>
          <p:nvPr/>
        </p:nvSpPr>
        <p:spPr>
          <a:xfrm>
            <a:off x="8708746" y="321320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preencoded.png">
            <a:extLst>
              <a:ext uri="{FF2B5EF4-FFF2-40B4-BE49-F238E27FC236}">
                <a16:creationId xmlns:a16="http://schemas.microsoft.com/office/drawing/2014/main" id="{C3E70C88-CE4C-099F-7599-C94E097D8D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03843" y="3308299"/>
            <a:ext cx="190195" cy="190195"/>
          </a:xfrm>
          <a:prstGeom prst="rect">
            <a:avLst/>
          </a:prstGeom>
        </p:spPr>
      </p:pic>
      <p:sp>
        <p:nvSpPr>
          <p:cNvPr id="33" name="Text 23">
            <a:extLst>
              <a:ext uri="{FF2B5EF4-FFF2-40B4-BE49-F238E27FC236}">
                <a16:creationId xmlns:a16="http://schemas.microsoft.com/office/drawing/2014/main" id="{6B28EAEC-01D0-7CCD-5C1E-40F5F5A10742}"/>
              </a:ext>
            </a:extLst>
          </p:cNvPr>
          <p:cNvSpPr txBox="1"/>
          <p:nvPr/>
        </p:nvSpPr>
        <p:spPr>
          <a:xfrm>
            <a:off x="8708746" y="4403750"/>
            <a:ext cx="20116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Target Score (195.0) 초과 달성</a:t>
            </a:r>
            <a:endParaRPr lang="en-US" sz="10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BE4E9C28-F4A5-351E-C4F4-B842235959F2}"/>
              </a:ext>
            </a:extLst>
          </p:cNvPr>
          <p:cNvSpPr txBox="1"/>
          <p:nvPr/>
        </p:nvSpPr>
        <p:spPr>
          <a:xfrm>
            <a:off x="8708746" y="3670402"/>
            <a:ext cx="1491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RECENT 100 EP AVG</a:t>
            </a:r>
            <a:endParaRPr lang="en-US" sz="100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717D43F6-5538-AB2F-96FA-BD449C406D4A}"/>
              </a:ext>
            </a:extLst>
          </p:cNvPr>
          <p:cNvSpPr txBox="1"/>
          <p:nvPr/>
        </p:nvSpPr>
        <p:spPr>
          <a:xfrm>
            <a:off x="8708746" y="3879799"/>
            <a:ext cx="16102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195.34</a:t>
            </a:r>
            <a:endParaRPr lang="en-US" sz="3000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87CB6B85-014D-FA2E-CCAE-957A5CD80DFD}"/>
              </a:ext>
            </a:extLst>
          </p:cNvPr>
          <p:cNvSpPr/>
          <p:nvPr/>
        </p:nvSpPr>
        <p:spPr>
          <a:xfrm>
            <a:off x="8708746" y="50292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AB308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8" descr="preencoded.png">
            <a:extLst>
              <a:ext uri="{FF2B5EF4-FFF2-40B4-BE49-F238E27FC236}">
                <a16:creationId xmlns:a16="http://schemas.microsoft.com/office/drawing/2014/main" id="{56729882-6D8C-6268-F562-BC5B8AF47F8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8790127" y="5124298"/>
            <a:ext cx="219456" cy="190195"/>
          </a:xfrm>
          <a:prstGeom prst="rect">
            <a:avLst/>
          </a:prstGeom>
        </p:spPr>
      </p:pic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7B1F1D45-BCF6-4A41-8191-81256E9B293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708746" y="6249924"/>
            <a:ext cx="133502" cy="133502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22E1149D-8953-F1D1-5124-014920E66150}"/>
              </a:ext>
            </a:extLst>
          </p:cNvPr>
          <p:cNvSpPr txBox="1"/>
          <p:nvPr/>
        </p:nvSpPr>
        <p:spPr>
          <a:xfrm>
            <a:off x="8956548" y="6219749"/>
            <a:ext cx="15544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Step Limit Reached</a:t>
            </a:r>
            <a:endParaRPr lang="en-US" sz="10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E0CEA8D9-AC6C-967B-94F1-38111F304F40}"/>
              </a:ext>
            </a:extLst>
          </p:cNvPr>
          <p:cNvSpPr txBox="1"/>
          <p:nvPr/>
        </p:nvSpPr>
        <p:spPr>
          <a:xfrm>
            <a:off x="8708746" y="5486400"/>
            <a:ext cx="1748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EPISODE REWARD</a:t>
            </a:r>
            <a:endParaRPr lang="en-US" sz="1000" dirty="0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8FA631BE-CB41-2012-0B89-542660ED6E80}"/>
              </a:ext>
            </a:extLst>
          </p:cNvPr>
          <p:cNvSpPr txBox="1"/>
          <p:nvPr/>
        </p:nvSpPr>
        <p:spPr>
          <a:xfrm>
            <a:off x="8708746" y="5695798"/>
            <a:ext cx="18288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Max</a:t>
            </a:r>
            <a:endParaRPr lang="en-US" sz="3000" dirty="0"/>
          </a:p>
        </p:txBody>
      </p:sp>
      <p:sp>
        <p:nvSpPr>
          <p:cNvPr id="42" name="Shape 30">
            <a:extLst>
              <a:ext uri="{FF2B5EF4-FFF2-40B4-BE49-F238E27FC236}">
                <a16:creationId xmlns:a16="http://schemas.microsoft.com/office/drawing/2014/main" id="{03229E5E-BDF0-754C-2CB9-6562A4BFDD1E}"/>
              </a:ext>
            </a:extLst>
          </p:cNvPr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CA3B9686-B727-E45D-32D4-5C55471EE71E}"/>
              </a:ext>
            </a:extLst>
          </p:cNvPr>
          <p:cNvSpPr txBox="1"/>
          <p:nvPr/>
        </p:nvSpPr>
        <p:spPr>
          <a:xfrm>
            <a:off x="457200" y="6581851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Analysis</a:t>
            </a:r>
            <a:endParaRPr lang="en-US" sz="900" dirty="0"/>
          </a:p>
        </p:txBody>
      </p:sp>
      <p:sp>
        <p:nvSpPr>
          <p:cNvPr id="44" name="Text 32">
            <a:extLst>
              <a:ext uri="{FF2B5EF4-FFF2-40B4-BE49-F238E27FC236}">
                <a16:creationId xmlns:a16="http://schemas.microsoft.com/office/drawing/2014/main" id="{0E1DD5DE-3607-98BB-864B-81E8E7068838}"/>
              </a:ext>
            </a:extLst>
          </p:cNvPr>
          <p:cNvSpPr txBox="1"/>
          <p:nvPr/>
        </p:nvSpPr>
        <p:spPr>
          <a:xfrm>
            <a:off x="11373307" y="6581851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 6</a:t>
            </a:r>
            <a:endParaRPr lang="en-US" sz="900" dirty="0"/>
          </a:p>
        </p:txBody>
      </p:sp>
      <p:pic>
        <p:nvPicPr>
          <p:cNvPr id="13" name="그림 1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3E2EEA1-F950-1A64-15A8-70447C9434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9343" y="1185346"/>
            <a:ext cx="5121270" cy="523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11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323698"/>
            <a:ext cx="57607" cy="304495"/>
          </a:xfrm>
          <a:prstGeom prst="roundRect">
            <a:avLst>
              <a:gd name="adj" fmla="val 529102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29107" y="267005"/>
            <a:ext cx="1643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7395" y="685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성과 요약 및 향후 발전 방향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941357" y="733349"/>
            <a:ext cx="1886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&amp; FUTURE 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67105"/>
            <a:ext cx="3610051" cy="4990795"/>
          </a:xfrm>
          <a:prstGeom prst="roundRect">
            <a:avLst>
              <a:gd name="adj" fmla="val 1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617013" y="4695444"/>
            <a:ext cx="2400300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>
                    <a:alpha val="3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9600" dirty="0"/>
          </a:p>
        </p:txBody>
      </p:sp>
      <p:sp>
        <p:nvSpPr>
          <p:cNvPr id="10" name="Text 8"/>
          <p:cNvSpPr txBox="1"/>
          <p:nvPr/>
        </p:nvSpPr>
        <p:spPr>
          <a:xfrm>
            <a:off x="1601114" y="2124151"/>
            <a:ext cx="1467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Summary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70202" y="2523744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656893" y="2714854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효율적인 문제 해결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8718" y="3019349"/>
            <a:ext cx="31866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기본적인 DQN 구조와 적절한 하이퍼파라미터 설정만으로도 복잡한 연속 제어 문제를 빠르고 효율적으로 해결할 수 있었습니다.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82573" y="5533949"/>
            <a:ext cx="1762049" cy="286207"/>
          </a:xfrm>
          <a:prstGeom prst="roundRect">
            <a:avLst>
              <a:gd name="adj" fmla="val 85197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506017" y="5609844"/>
            <a:ext cx="16002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Solved in 363 Episodes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2194" y="1067105"/>
            <a:ext cx="3610051" cy="4990795"/>
          </a:xfrm>
          <a:prstGeom prst="roundRect">
            <a:avLst>
              <a:gd name="adj" fmla="val 1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452006" y="4695444"/>
            <a:ext cx="2400300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>
                    <a:alpha val="3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600" dirty="0"/>
          </a:p>
        </p:txBody>
      </p:sp>
      <p:sp>
        <p:nvSpPr>
          <p:cNvPr id="18" name="Text 16"/>
          <p:cNvSpPr txBox="1"/>
          <p:nvPr/>
        </p:nvSpPr>
        <p:spPr>
          <a:xfrm>
            <a:off x="5305349" y="2124151"/>
            <a:ext cx="1724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분석 Analysis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05195" y="2523744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459882" y="2714854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탐험 vs 활용의 조화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49140" y="3019349"/>
            <a:ext cx="31958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Epsilon(탐험율)이 충분히 감소하여 활용(Exploitation) 비율이 높아지는 시점과 성능이 급격히 향상되는 시점이 일치함을 확인했습니다.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30852" y="5581498"/>
            <a:ext cx="3133649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5450738" y="5691226"/>
            <a:ext cx="105156" cy="1143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593385" y="5658307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탐험의 중요성 입증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28102" y="1067105"/>
            <a:ext cx="3610051" cy="4990795"/>
          </a:xfrm>
          <a:prstGeom prst="roundRect">
            <a:avLst>
              <a:gd name="adj" fmla="val 10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10287914" y="4695444"/>
            <a:ext cx="2400300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>
                    <a:alpha val="3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600" dirty="0"/>
          </a:p>
        </p:txBody>
      </p:sp>
      <p:sp>
        <p:nvSpPr>
          <p:cNvPr id="27" name="Text 24"/>
          <p:cNvSpPr txBox="1"/>
          <p:nvPr/>
        </p:nvSpPr>
        <p:spPr>
          <a:xfrm>
            <a:off x="8944661" y="2124151"/>
            <a:ext cx="2124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과제 Future Work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741103" y="2523744"/>
            <a:ext cx="381305" cy="38405"/>
          </a:xfrm>
          <a:prstGeom prst="roundRect">
            <a:avLst>
              <a:gd name="adj" fmla="val 119047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9327794" y="2714854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알고리즘 적용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371332" y="3019349"/>
            <a:ext cx="322508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Q-Value의 과대평가(Overestimation) 문제를 해결하고 학습 안정성을 더욱 높이기 위한 심화 기법 도입 예정입니다.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365846" y="5000854"/>
            <a:ext cx="3133649" cy="819302"/>
          </a:xfrm>
          <a:prstGeom prst="roundRect">
            <a:avLst>
              <a:gd name="adj" fmla="val 1038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rcRect l="-3120" r="-3120"/>
          <a:stretch/>
        </p:blipFill>
        <p:spPr>
          <a:xfrm>
            <a:off x="8490204" y="5148072"/>
            <a:ext cx="75895" cy="11430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641994" y="5115154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Double DQN</a:t>
            </a:r>
            <a:endParaRPr lang="en-US" sz="9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rcRect l="-3120" r="-3120"/>
          <a:stretch/>
        </p:blipFill>
        <p:spPr>
          <a:xfrm>
            <a:off x="8490204" y="5357470"/>
            <a:ext cx="75895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641994" y="5324551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Dueling Network Architecture</a:t>
            </a:r>
            <a:endParaRPr lang="en-US" sz="9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rcRect l="-3120" r="-3120"/>
          <a:stretch/>
        </p:blipFill>
        <p:spPr>
          <a:xfrm>
            <a:off x="8490204" y="5567782"/>
            <a:ext cx="75895" cy="1143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641994" y="5533949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Prioritized Experience Replay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rcRect t="-1448" b="-1448"/>
          <a:stretch/>
        </p:blipFill>
        <p:spPr>
          <a:xfrm>
            <a:off x="457200" y="6491326"/>
            <a:ext cx="161849" cy="171907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94944" y="6510528"/>
            <a:ext cx="2695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github.com/taeryol/RL-CartPole-Project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1321186" y="6348679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0092233" y="6577279"/>
            <a:ext cx="176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 for listening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1927555" y="1304849"/>
            <a:ext cx="666598" cy="666598"/>
          </a:xfrm>
          <a:prstGeom prst="ellipse">
            <a:avLst/>
          </a:prstGeom>
          <a:solidFill>
            <a:srgbClr val="3B82F6">
              <a:alpha val="20000"/>
            </a:srgbClr>
          </a:solidFill>
          <a:ln w="50800">
            <a:solidFill>
              <a:srgbClr val="0F172A"/>
            </a:solidFill>
            <a:prstDash val="solid"/>
          </a:ln>
          <a:effectLst>
            <a:outerShdw blurRad="12700" dist="12700" dir="16200000" algn="bl" rotWithShape="0">
              <a:srgbClr val="FFFFFF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2146097" y="1485900"/>
            <a:ext cx="228600" cy="304495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5762549" y="1304849"/>
            <a:ext cx="666598" cy="666598"/>
          </a:xfrm>
          <a:prstGeom prst="ellipse">
            <a:avLst/>
          </a:prstGeom>
          <a:solidFill>
            <a:srgbClr val="A855F7">
              <a:alpha val="20000"/>
            </a:srgbClr>
          </a:solidFill>
          <a:ln w="50800">
            <a:solidFill>
              <a:srgbClr val="0F172A"/>
            </a:solidFill>
            <a:prstDash val="solid"/>
          </a:ln>
          <a:effectLst>
            <a:outerShdw blurRad="12700" dist="12700" dir="16200000" algn="bl" rotWithShape="0">
              <a:srgbClr val="FFFFFF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43600" y="1485900"/>
            <a:ext cx="304495" cy="304495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9597542" y="1304849"/>
            <a:ext cx="666598" cy="666598"/>
          </a:xfrm>
          <a:prstGeom prst="ellipse">
            <a:avLst/>
          </a:prstGeom>
          <a:solidFill>
            <a:srgbClr val="2DD4BF">
              <a:alpha val="20000"/>
            </a:srgbClr>
          </a:solidFill>
          <a:ln w="50800">
            <a:solidFill>
              <a:srgbClr val="0F172A"/>
            </a:solidFill>
            <a:prstDash val="solid"/>
          </a:ln>
          <a:effectLst>
            <a:outerShdw blurRad="12700" dist="12700" dir="16200000" algn="bl" rotWithShape="0">
              <a:srgbClr val="FFFFFF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9760306" y="1485900"/>
            <a:ext cx="342900" cy="304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781</Words>
  <Application>Microsoft Macintosh PowerPoint</Application>
  <PresentationFormat>와이드스크린</PresentationFormat>
  <Paragraphs>175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Noto Sans KR</vt:lpstr>
      <vt:lpstr>ui-monospace</vt:lpstr>
      <vt:lpstr>Arial</vt:lpstr>
      <vt:lpstr>Courier New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Kim, Tae Ryong (HPC&amp;AI CM)</cp:lastModifiedBy>
  <cp:revision>2</cp:revision>
  <dcterms:created xsi:type="dcterms:W3CDTF">2025-12-07T08:47:34Z</dcterms:created>
  <dcterms:modified xsi:type="dcterms:W3CDTF">2025-12-07T08:52:18Z</dcterms:modified>
</cp:coreProperties>
</file>